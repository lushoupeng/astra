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d5006acba7402a" /><Relationship Type="http://schemas.openxmlformats.org/officeDocument/2006/relationships/extended-properties" Target="/docProps/app.xml" Id="R521433507d364abe" /><Relationship Type="http://schemas.openxmlformats.org/officeDocument/2006/relationships/officeDocument" Target="/ppt/presentation.xml" Id="Rb6f43fddffc149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9a02018eab49b4"/>
  </p:sldMasterIdLst>
  <p:notesMasterIdLst>
    <p:notesMasterId xmlns:r="http://schemas.openxmlformats.org/officeDocument/2006/relationships" r:id="R68cb65b8a942484f"/>
  </p:notesMasterIdLst>
  <p:sldIdLst>
    <p:sldId xmlns:r="http://schemas.openxmlformats.org/officeDocument/2006/relationships" id="256" r:id="R726e80de6d0f41fe"/>
    <p:sldId xmlns:r="http://schemas.openxmlformats.org/officeDocument/2006/relationships" id="257" r:id="R56ad3b83680f4ecc"/>
    <p:sldId xmlns:r="http://schemas.openxmlformats.org/officeDocument/2006/relationships" id="258" r:id="R78af69dbb987409e"/>
    <p:sldId xmlns:r="http://schemas.openxmlformats.org/officeDocument/2006/relationships" id="259" r:id="Rfe54272ad9d948a4"/>
    <p:sldId xmlns:r="http://schemas.openxmlformats.org/officeDocument/2006/relationships" id="260" r:id="R8f672173b4b746ce"/>
    <p:sldId xmlns:r="http://schemas.openxmlformats.org/officeDocument/2006/relationships" id="261" r:id="R359b0ef4235f4af5"/>
    <p:sldId xmlns:r="http://schemas.openxmlformats.org/officeDocument/2006/relationships" id="262" r:id="R79899c4445004238"/>
    <p:sldId xmlns:r="http://schemas.openxmlformats.org/officeDocument/2006/relationships" id="263" r:id="R251e95fe2ac049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d73d96b1254809" /><Relationship Type="http://schemas.openxmlformats.org/officeDocument/2006/relationships/slideMaster" Target="/ppt/slideMasters/slideMaster1.xml" Id="Rf49a02018eab49b4" /><Relationship Type="http://schemas.openxmlformats.org/officeDocument/2006/relationships/notesMaster" Target="/ppt/notesMasters/notesMaster1.xml" Id="R68cb65b8a942484f" /><Relationship Type="http://schemas.openxmlformats.org/officeDocument/2006/relationships/presProps" Target="/ppt/presProps.xml" Id="R79ab06057dc2400f" /><Relationship Type="http://schemas.openxmlformats.org/officeDocument/2006/relationships/tableStyles" Target="/ppt/tableStyles.xml" Id="Rb5d3c50999cb4677" /><Relationship Type="http://schemas.openxmlformats.org/officeDocument/2006/relationships/slide" Target="/ppt/slides/slide1.xml" Id="R726e80de6d0f41fe" /><Relationship Type="http://schemas.openxmlformats.org/officeDocument/2006/relationships/slide" Target="/ppt/slides/slide2.xml" Id="R56ad3b83680f4ecc" /><Relationship Type="http://schemas.openxmlformats.org/officeDocument/2006/relationships/slide" Target="/ppt/slides/slide3.xml" Id="R78af69dbb987409e" /><Relationship Type="http://schemas.openxmlformats.org/officeDocument/2006/relationships/slide" Target="/ppt/slides/slide4.xml" Id="Rfe54272ad9d948a4" /><Relationship Type="http://schemas.openxmlformats.org/officeDocument/2006/relationships/slide" Target="/ppt/slides/slide5.xml" Id="R8f672173b4b746ce" /><Relationship Type="http://schemas.openxmlformats.org/officeDocument/2006/relationships/slide" Target="/ppt/slides/slide6.xml" Id="R359b0ef4235f4af5" /><Relationship Type="http://schemas.openxmlformats.org/officeDocument/2006/relationships/slide" Target="/ppt/slides/slide7.xml" Id="R79899c4445004238" /><Relationship Type="http://schemas.openxmlformats.org/officeDocument/2006/relationships/slide" Target="/ppt/slides/slide8.xml" Id="R251e95fe2ac049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53196053984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6827dce1ad49f0" /><Relationship Type="http://schemas.openxmlformats.org/officeDocument/2006/relationships/notesMaster" Target="/ppt/notesMasters/notesMaster1.xml" Id="R59571d32137d40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d6da9dd6a74e72" /><Relationship Type="http://schemas.openxmlformats.org/officeDocument/2006/relationships/notesMaster" Target="/ppt/notesMasters/notesMaster1.xml" Id="R7c88af5ddc874d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6c449918c84fee" /><Relationship Type="http://schemas.openxmlformats.org/officeDocument/2006/relationships/notesMaster" Target="/ppt/notesMasters/notesMaster1.xml" Id="Rbe563433cb5145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7d3fb8cfd64423" /><Relationship Type="http://schemas.openxmlformats.org/officeDocument/2006/relationships/notesMaster" Target="/ppt/notesMasters/notesMaster1.xml" Id="Re54b8d52879a4a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4fd4465f9b4dc2" /><Relationship Type="http://schemas.openxmlformats.org/officeDocument/2006/relationships/notesMaster" Target="/ppt/notesMasters/notesMaster1.xml" Id="R1bd5e3b219ec4b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38b97a7ba944d1" /><Relationship Type="http://schemas.openxmlformats.org/officeDocument/2006/relationships/notesMaster" Target="/ppt/notesMasters/notesMaster1.xml" Id="R3f8cfe26e67f41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3af8286e6d44db" /><Relationship Type="http://schemas.openxmlformats.org/officeDocument/2006/relationships/notesMaster" Target="/ppt/notesMasters/notesMaster1.xml" Id="Ra1600eb7e7bb48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682240aa8e4f2a" /><Relationship Type="http://schemas.openxmlformats.org/officeDocument/2006/relationships/notesMaster" Target="/ppt/notesMasters/notesMaster1.xml" Id="R1fdc0a4ace7443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开场说明：开发者不再逐个巡视终端，而是在一个本地工作台中处理状态、审批和 Review。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Coding Workbench 原型产品需求.docx</a:t>
            </a:r>
          </a:p>
          <a:p xmlns:a="http://schemas.openxmlformats.org/drawingml/2006/main">
            <a:r>
              <a:t>- artifacts/demo/screenshots/01-command-center.png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说明问题结构：工作量并不只来自编码，而来自持续确认哪个项目、哪个 Session 正在等待处理。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Coding Workbench 原型产品需求.docx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Command Center 进入 Needs Attention，强调审批、失败与 Review 都集中处理，并保持已读和已解决状态分离。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Coding Workbench 原型产品需求.docx</a:t>
            </a:r>
          </a:p>
          <a:p xmlns:a="http://schemas.openxmlformats.org/drawingml/2006/main">
            <a:r>
              <a:t>- artifacts/demo/screenshots/02-attention.png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演示批准动作，说明同步关系，同时强调 Demo Approval 不触发任何真实命令。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Coding Workbench 原型产品需求.docx</a:t>
            </a:r>
          </a:p>
          <a:p xmlns:a="http://schemas.openxmlformats.org/drawingml/2006/main">
            <a:r>
              <a:t>- docs/product/workbench-capability.md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Claude Session。Timeline 记录用户任务、分析、命令摘要、文件变更和测试，不提供命令执行入口。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Coding Workbench 原型产品需求.docx</a:t>
            </a:r>
          </a:p>
          <a:p xmlns:a="http://schemas.openxmlformats.org/drawingml/2006/main">
            <a:r>
              <a:t>- artifacts/demo/screenshots/03-session-timeline.png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 Changes，展示四个变更文件和统一 Diff。强调所有 Review 操作只影响本地原型状态，不 commit、reset 或 checkout。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Coding Workbench 原型产品需求.docx</a:t>
            </a:r>
          </a:p>
          <a:p xmlns:a="http://schemas.openxmlformats.org/drawingml/2006/main">
            <a:r>
              <a:t>- artifacts/demo/screenshots/04-review-changes.png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说明安全边界：不上传、不保存 API Key、不执行 Agent Shell Command、Git 只读、路径必须限制在项目根目录。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Coding Workbench 原型产品需求.docx</a:t>
            </a:r>
          </a:p>
          <a:p xmlns:a="http://schemas.openxmlformats.org/drawingml/2006/main">
            <a:r>
              <a:t>- docs/product/workbench-capability.md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收束：原型已经验证统一控制面的信息架构和交互闭环；正式开发应先解决权限、审计和真实 adapter，再扩大运行时范围。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docs/product/workbench-capability.md</a:t>
            </a:r>
          </a:p>
          <a:p xmlns:a="http://schemas.openxmlformats.org/drawingml/2006/main">
            <a:r>
              <a:t>- docs/product/workbench-acceptance.md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2bd365c5f4b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a1034333ee4203" /><Relationship Type="http://schemas.openxmlformats.org/officeDocument/2006/relationships/slideLayout" Target="/ppt/slideLayouts/slideLayout1.xml" Id="R68e81fc881614a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e81fc881614a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eca64872b4899" /><Relationship Type="http://schemas.openxmlformats.org/officeDocument/2006/relationships/image" Target="/ppt/media/image.png" Id="R2682a2804f244263" /><Relationship Type="http://schemas.openxmlformats.org/officeDocument/2006/relationships/notesSlide" Target="/ppt/notesSlides/notesSlide1.xml" Id="R5b14ad6369a843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ecee6e4214dab" /><Relationship Type="http://schemas.openxmlformats.org/officeDocument/2006/relationships/notesSlide" Target="/ppt/notesSlides/notesSlide2.xml" Id="Ra22a5d63279143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a4a2727cd4528" /><Relationship Type="http://schemas.openxmlformats.org/officeDocument/2006/relationships/image" Target="/ppt/media/image2.png" Id="R638fc5b816704a5f" /><Relationship Type="http://schemas.openxmlformats.org/officeDocument/2006/relationships/notesSlide" Target="/ppt/notesSlides/notesSlide3.xml" Id="Ree200a9eeb9f47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24561bc7340f4" /><Relationship Type="http://schemas.openxmlformats.org/officeDocument/2006/relationships/notesSlide" Target="/ppt/notesSlides/notesSlide4.xml" Id="Rc4e41df238c94b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0a70aaba4419f" /><Relationship Type="http://schemas.openxmlformats.org/officeDocument/2006/relationships/image" Target="/ppt/media/image3.png" Id="R287b5f3f876c4ef0" /><Relationship Type="http://schemas.openxmlformats.org/officeDocument/2006/relationships/notesSlide" Target="/ppt/notesSlides/notesSlide5.xml" Id="R9236035541bd43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f184edf2a41f2" /><Relationship Type="http://schemas.openxmlformats.org/officeDocument/2006/relationships/image" Target="/ppt/media/image4.png" Id="R99221fbea15d4387" /><Relationship Type="http://schemas.openxmlformats.org/officeDocument/2006/relationships/notesSlide" Target="/ppt/notesSlides/notesSlide6.xml" Id="R655ef879479d41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8c43002024bba" /><Relationship Type="http://schemas.openxmlformats.org/officeDocument/2006/relationships/notesSlide" Target="/ppt/notesSlides/notesSlide7.xml" Id="Rfadb0b71fe8e41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91f00bc494b88" /><Relationship Type="http://schemas.openxmlformats.org/officeDocument/2006/relationships/notesSlide" Target="/ppt/notesSlides/notesSlide8.xml" Id="R6a0c019128ab45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9E9B0FF-522C-4273-9A9B-26EE9786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CODING WORKBENCH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5038885-F253-4FF7-A9BA-81A5E6AC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Astra Nexus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71BE4D-5A61-46EC-9A2E-DB8169C1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一个面向本地项目、Agent Session、Attention 与 Review 的统一控制面</a:t>
            </a:r>
          </a:p>
        </p:txBody>
      </p:sp>
      <p:sp>
        <p:nvSpPr>
          <p:cNvPr id="4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6E245796-C618-4553-BEF9-B48E588E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23900"/>
            <a:ext cx="5715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2a2804f244263"/>
          <a:stretch xmlns:a="http://schemas.openxmlformats.org/drawingml/2006/main"/>
        </p:blipFill>
        <p:spPr>
          <a:xfrm xmlns:a="http://schemas.openxmlformats.org/drawingml/2006/main">
            <a:off x="6019800" y="1752600"/>
            <a:ext cx="5486400" cy="3086100"/>
          </a:xfrm>
          <a:prstGeom xmlns:a="http://schemas.openxmlformats.org/drawingml/2006/main" prst="rect">
            <a:avLst/>
          </a:prstGeom>
        </p:spPr>
      </p:pic>
      <p:sp>
        <p:nvSpPr>
          <p:cNvPr id="6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E45CFD79-360A-453A-8CBD-2CA8506E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Prototype 0.1.0 · Windows</a:t>
            </a:r>
          </a:p>
        </p:txBody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08A096D2-8F19-4D83-B857-64885C88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53642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042D3A52-610F-49BA-9E9A-AD5FAD6B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真正的成本不是 Agent 数量，而是巡视碎片</a:t>
            </a:r>
          </a:p>
        </p:txBody>
      </p:sp>
      <p:sp>
        <p:nvSpPr>
          <p:cNvPr id="2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FB260B72-EF0E-453E-8034-CCFB7D83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504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problem-left-label">
            <a:extLst xmlns:a="http://schemas.openxmlformats.org/drawingml/2006/main">
              <a:ext uri="{FF2B5EF4-FFF2-40B4-BE49-F238E27FC236}">
                <a16:creationId xmlns:a16="http://schemas.microsoft.com/office/drawing/2014/main" id="{97EF8616-534D-4F17-A158-4E5B68D4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当前工作方式</a:t>
            </a:r>
          </a:p>
        </p:txBody>
      </p:sp>
      <p:sp>
        <p:nvSpPr>
          <p:cNvPr id="4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0CBC3639-D670-4D88-92CF-CE121A4C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多个项目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多个终端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多个 Agent 会话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状态与变更散落各处</a:t>
            </a:r>
          </a:p>
        </p:txBody>
      </p:sp>
      <p:sp>
        <p:nvSpPr>
          <p:cNvPr id="5" name="problem-right-label">
            <a:extLst xmlns:a="http://schemas.openxmlformats.org/drawingml/2006/main">
              <a:ext uri="{FF2B5EF4-FFF2-40B4-BE49-F238E27FC236}">
                <a16:creationId xmlns:a16="http://schemas.microsoft.com/office/drawing/2014/main" id="{F1F9FA0A-67A3-4FF5-9C19-BD0F68AE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需要的控制面</a:t>
            </a:r>
          </a:p>
        </p:txBody>
      </p:sp>
      <p:sp>
        <p:nvSpPr>
          <p:cNvPr id="6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E1DE06BE-AC47-487F-878C-A7C87468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 Session 状态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 Attention 队列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统一通知入口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统一只读 Git Review</a:t>
            </a:r>
          </a:p>
        </p:txBody>
      </p:sp>
      <p:sp>
        <p:nvSpPr>
          <p:cNvPr id="7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5CA3A1B8-59AA-4198-8B7F-BF98D5AE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把注意力留给决策，不留给窗口切换。</a:t>
            </a:r>
          </a:p>
        </p:txBody>
      </p:sp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8E1607DE-A0B8-4B77-8BAB-219F42F1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9433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mmand-title">
            <a:extLst xmlns:a="http://schemas.openxmlformats.org/drawingml/2006/main">
              <a:ext uri="{FF2B5EF4-FFF2-40B4-BE49-F238E27FC236}">
                <a16:creationId xmlns:a16="http://schemas.microsoft.com/office/drawing/2014/main" id="{1C18930C-A5B1-4B8E-88ED-6AA8C8B6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Command Center 先回答“哪里需要我”</a:t>
            </a:r>
          </a:p>
        </p:txBody>
      </p:sp>
      <p:sp>
        <p:nvSpPr>
          <p:cNvPr id="2" name="command-body">
            <a:extLst xmlns:a="http://schemas.openxmlformats.org/drawingml/2006/main">
              <a:ext uri="{FF2B5EF4-FFF2-40B4-BE49-F238E27FC236}">
                <a16:creationId xmlns:a16="http://schemas.microsoft.com/office/drawing/2014/main" id="{00032A43-DC04-4F2E-8713-8BA33E10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跨项目汇总四类状态：</a:t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运行、等待、完成、失败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最近 Session 与 Attention 在同一视图内形成下一步行动。</a:t>
            </a:r>
          </a:p>
        </p:txBody>
      </p:sp>
      <p:sp>
        <p:nvSpPr>
          <p:cNvPr id="3" name="command-image-backing">
            <a:extLst xmlns:a="http://schemas.openxmlformats.org/drawingml/2006/main">
              <a:ext uri="{FF2B5EF4-FFF2-40B4-BE49-F238E27FC236}">
                <a16:creationId xmlns:a16="http://schemas.microsoft.com/office/drawing/2014/main" id="{17FF55DC-3036-4FCA-B0A1-E4AD9039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75247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fc5b816704a5f"/>
          <a:stretch xmlns:a="http://schemas.openxmlformats.org/drawingml/2006/main"/>
        </p:blipFill>
        <p:spPr>
          <a:xfrm xmlns:a="http://schemas.openxmlformats.org/drawingml/2006/main">
            <a:off x="4234392" y="1466850"/>
            <a:ext cx="7247467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command-callout">
            <a:extLst xmlns:a="http://schemas.openxmlformats.org/drawingml/2006/main">
              <a:ext uri="{FF2B5EF4-FFF2-40B4-BE49-F238E27FC236}">
                <a16:creationId xmlns:a16="http://schemas.microsoft.com/office/drawing/2014/main" id="{81A70C61-DFDD-420F-AA0B-4407291C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点击事项即可进入相关 Session；读取与解决是两个明确状态。</a:t>
            </a:r>
          </a:p>
        </p:txBody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B33E7AC3-8955-4898-A107-DDC019E6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8993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low-title">
            <a:extLst xmlns:a="http://schemas.openxmlformats.org/drawingml/2006/main">
              <a:ext uri="{FF2B5EF4-FFF2-40B4-BE49-F238E27FC236}">
                <a16:creationId xmlns:a16="http://schemas.microsoft.com/office/drawing/2014/main" id="{40230DC7-D90F-4E4D-9A89-30A9BB00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一次审批会同步四个用户可见状态</a:t>
            </a:r>
          </a:p>
        </p:txBody>
      </p:sp>
      <p:sp>
        <p:nvSpPr>
          <p:cNvPr id="2" name="flow-line">
            <a:extLst xmlns:a="http://schemas.openxmlformats.org/drawingml/2006/main">
              <a:ext uri="{FF2B5EF4-FFF2-40B4-BE49-F238E27FC236}">
                <a16:creationId xmlns:a16="http://schemas.microsoft.com/office/drawing/2014/main" id="{147B4F07-23EC-49BC-AAD6-70E65A66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flow-dot-0">
            <a:extLst xmlns:a="http://schemas.openxmlformats.org/drawingml/2006/main">
              <a:ext uri="{FF2B5EF4-FFF2-40B4-BE49-F238E27FC236}">
                <a16:creationId xmlns:a16="http://schemas.microsoft.com/office/drawing/2014/main" id="{AD1D7FA7-9864-4FBB-AF50-AB2AE45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F0339DAC-F735-450C-8F86-CA958CD7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等待</a:t>
            </a:r>
          </a:p>
        </p:txBody>
      </p:sp>
      <p:sp>
        <p:nvSpPr>
          <p:cNvPr id="5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C689DEB-4C19-475E-AAD4-8E437DDB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Session 进入 Waiting</a:t>
            </a:r>
          </a:p>
        </p:txBody>
      </p:sp>
      <p:sp>
        <p:nvSpPr>
          <p:cNvPr id="6" name="flow-body-0">
            <a:extLst xmlns:a="http://schemas.openxmlformats.org/drawingml/2006/main">
              <a:ext uri="{FF2B5EF4-FFF2-40B4-BE49-F238E27FC236}">
                <a16:creationId xmlns:a16="http://schemas.microsoft.com/office/drawing/2014/main" id="{1E830C23-374B-435E-9BAC-02EC447D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创建 Timeline Event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创建 Attention Item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创建 Notification</a:t>
            </a:r>
          </a:p>
        </p:txBody>
      </p:sp>
      <p:sp>
        <p:nvSpPr>
          <p:cNvPr id="7" name="flow-dot-1">
            <a:extLst xmlns:a="http://schemas.openxmlformats.org/drawingml/2006/main">
              <a:ext uri="{FF2B5EF4-FFF2-40B4-BE49-F238E27FC236}">
                <a16:creationId xmlns:a16="http://schemas.microsoft.com/office/drawing/2014/main" id="{25D8FBDF-F186-4097-B061-3F358906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AAB68625-BF68-4879-AF3F-73D4A438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9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B99EB080-17A2-4AD1-ACEE-E449D5DD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用户批准或拒绝</a:t>
            </a:r>
          </a:p>
        </p:txBody>
      </p:sp>
      <p:sp>
        <p:nvSpPr>
          <p:cNvPr id="10" name="flow-body-1">
            <a:extLst xmlns:a="http://schemas.openxmlformats.org/drawingml/2006/main">
              <a:ext uri="{FF2B5EF4-FFF2-40B4-BE49-F238E27FC236}">
                <a16:creationId xmlns:a16="http://schemas.microsoft.com/office/drawing/2014/main" id="{FE65A439-C9E3-41FE-A03E-24AA9235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决定只更新本地模拟状态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不执行系统命令</a:t>
            </a:r>
          </a:p>
        </p:txBody>
      </p:sp>
      <p:sp>
        <p:nvSpPr>
          <p:cNvPr id="11" name="flow-dot-2">
            <a:extLst xmlns:a="http://schemas.openxmlformats.org/drawingml/2006/main">
              <a:ext uri="{FF2B5EF4-FFF2-40B4-BE49-F238E27FC236}">
                <a16:creationId xmlns:a16="http://schemas.microsoft.com/office/drawing/2014/main" id="{7D9FCBCD-C4E5-443C-B33A-DAE420B9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785D9C5F-1FF2-4DAB-9E81-0BB6B310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继续</a:t>
            </a:r>
          </a:p>
        </p:txBody>
      </p:sp>
      <p:sp>
        <p:nvSpPr>
          <p:cNvPr id="13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5601A3CA-0967-4AFD-8211-43BCA79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状态回到 Running</a:t>
            </a:r>
          </a:p>
        </p:txBody>
      </p:sp>
      <p:sp>
        <p:nvSpPr>
          <p:cNvPr id="1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B2A3D6C9-4B60-46A8-9BF7-BAE508DB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243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Dashboard、项目树、Session 与通知同步更新</a:t>
            </a:r>
          </a:p>
        </p:txBody>
      </p:sp>
      <p:sp>
        <p:nvSpPr>
          <p:cNvPr id="15" name="footer-4">
            <a:extLst xmlns:a="http://schemas.openxmlformats.org/drawingml/2006/main">
              <a:ext uri="{FF2B5EF4-FFF2-40B4-BE49-F238E27FC236}">
                <a16:creationId xmlns:a16="http://schemas.microsoft.com/office/drawing/2014/main" id="{8F839B70-3692-4860-BABF-0CDBA628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36294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E66D74D4-951A-48E1-8795-CC1CA6A1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Session Timeline 把过程变成可审查证据</a:t>
            </a:r>
          </a:p>
        </p:txBody>
      </p:sp>
      <p:sp>
        <p:nvSpPr>
          <p:cNvPr id="2" name="timeline-image-backing">
            <a:extLst xmlns:a="http://schemas.openxmlformats.org/drawingml/2006/main">
              <a:ext uri="{FF2B5EF4-FFF2-40B4-BE49-F238E27FC236}">
                <a16:creationId xmlns:a16="http://schemas.microsoft.com/office/drawing/2014/main" id="{9741601D-914C-4677-861A-130B4C17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5247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b5f3f876c4ef0"/>
          <a:stretch xmlns:a="http://schemas.openxmlformats.org/drawingml/2006/main"/>
        </p:blipFill>
        <p:spPr>
          <a:xfrm xmlns:a="http://schemas.openxmlformats.org/drawingml/2006/main">
            <a:off x="748242" y="1485900"/>
            <a:ext cx="7247467" cy="4076700"/>
          </a:xfrm>
          <a:prstGeom xmlns:a="http://schemas.openxmlformats.org/drawingml/2006/main" prst="rect">
            <a:avLst/>
          </a:prstGeom>
        </p:spPr>
      </p:pic>
      <p:sp>
        <p:nvSpPr>
          <p:cNvPr id="4" name="timeline-rail-title">
            <a:extLst xmlns:a="http://schemas.openxmlformats.org/drawingml/2006/main">
              <a:ext uri="{FF2B5EF4-FFF2-40B4-BE49-F238E27FC236}">
                <a16:creationId xmlns:a16="http://schemas.microsoft.com/office/drawing/2014/main" id="{72EC9C08-14BE-4BE7-87F2-C2816DF3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七类事件</a:t>
            </a:r>
          </a:p>
        </p:txBody>
      </p:sp>
      <p:sp>
        <p:nvSpPr>
          <p:cNvPr id="5" name="timeline-rail">
            <a:extLst xmlns:a="http://schemas.openxmlformats.org/drawingml/2006/main">
              <a:ext uri="{FF2B5EF4-FFF2-40B4-BE49-F238E27FC236}">
                <a16:creationId xmlns:a16="http://schemas.microsoft.com/office/drawing/2014/main" id="{91601E5A-1D10-4747-8D0C-BC68D003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User Message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 Message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Command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File Change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Approval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Status</a:t>
            </a:r>
          </a:p>
        </p:txBody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B9BAF37B-1085-46E0-B9FF-FF4024F1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99079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B7BC9BC5-8924-4647-9FDE-48220E6A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Review 决策持久化，但绝不改写 Git</a:t>
            </a:r>
          </a:p>
        </p:txBody>
      </p:sp>
      <p:sp>
        <p:nvSpPr>
          <p:cNvPr id="2" name="review-body">
            <a:extLst xmlns:a="http://schemas.openxmlformats.org/drawingml/2006/main">
              <a:ext uri="{FF2B5EF4-FFF2-40B4-BE49-F238E27FC236}">
                <a16:creationId xmlns:a16="http://schemas.microsoft.com/office/drawing/2014/main" id="{572701E1-3303-465B-B880-CFF146B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统一 Diff 显示文本行号；二进制文件提供安全回退。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接受、已审阅、请求修改只更新原型元数据。</a:t>
            </a:r>
          </a:p>
        </p:txBody>
      </p:sp>
      <p:sp>
        <p:nvSpPr>
          <p:cNvPr id="3" name="review-callout">
            <a:extLst xmlns:a="http://schemas.openxmlformats.org/drawingml/2006/main">
              <a:ext uri="{FF2B5EF4-FFF2-40B4-BE49-F238E27FC236}">
                <a16:creationId xmlns:a16="http://schemas.microsoft.com/office/drawing/2014/main" id="{848D72D7-7DE0-4134-A32D-96255B8A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Request Changes 可使确定性 Session 返回 Running，并同步 Timeline。</a:t>
            </a:r>
          </a:p>
        </p:txBody>
      </p:sp>
      <p:sp>
        <p:nvSpPr>
          <p:cNvPr id="4" name="review-image-backing">
            <a:extLst xmlns:a="http://schemas.openxmlformats.org/drawingml/2006/main">
              <a:ext uri="{FF2B5EF4-FFF2-40B4-BE49-F238E27FC236}">
                <a16:creationId xmlns:a16="http://schemas.microsoft.com/office/drawing/2014/main" id="{798E7BF0-8C40-478B-97C3-82CF78B0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75247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21fbea15d4387"/>
          <a:stretch xmlns:a="http://schemas.openxmlformats.org/drawingml/2006/main"/>
        </p:blipFill>
        <p:spPr>
          <a:xfrm xmlns:a="http://schemas.openxmlformats.org/drawingml/2006/main">
            <a:off x="4234392" y="1466850"/>
            <a:ext cx="7247467" cy="4076700"/>
          </a:xfrm>
          <a:prstGeom xmlns:a="http://schemas.openxmlformats.org/drawingml/2006/main" prst="rect">
            <a:avLst/>
          </a:prstGeom>
        </p:spPr>
      </p:pic>
      <p:sp>
        <p:nvSpPr>
          <p:cNvPr id="6" name="footer-6">
            <a:extLst xmlns:a="http://schemas.openxmlformats.org/drawingml/2006/main">
              <a:ext uri="{FF2B5EF4-FFF2-40B4-BE49-F238E27FC236}">
                <a16:creationId xmlns:a16="http://schemas.microsoft.com/office/drawing/2014/main" id="{12CA5F89-9085-4E9F-BB2A-197617B1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063585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uard-title">
            <a:extLst xmlns:a="http://schemas.openxmlformats.org/drawingml/2006/main">
              <a:ext uri="{FF2B5EF4-FFF2-40B4-BE49-F238E27FC236}">
                <a16:creationId xmlns:a16="http://schemas.microsoft.com/office/drawing/2014/main" id="{AEF12134-77DB-48B4-B50D-C070CDA3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原型先证明工作流，再打开运行时权限</a:t>
            </a:r>
          </a:p>
        </p:txBody>
      </p:sp>
      <p:sp>
        <p:nvSpPr>
          <p:cNvPr id="2" name="guard-body">
            <a:extLst xmlns:a="http://schemas.openxmlformats.org/drawingml/2006/main">
              <a:ext uri="{FF2B5EF4-FFF2-40B4-BE49-F238E27FC236}">
                <a16:creationId xmlns:a16="http://schemas.microsoft.com/office/drawing/2014/main" id="{0349C8C5-795C-4925-B6D8-FED1C9CC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Claude 与 Codex 使用确定性 Mock；Gemini 仅展示。所有原生能力被限制为路径校验、只读 Git、受控文件打开和桌面通知。</a:t>
            </a:r>
          </a:p>
        </p:txBody>
      </p:sp>
      <p:sp>
        <p:nvSpPr>
          <p:cNvPr id="3" name="guard-panel-0">
            <a:extLst xmlns:a="http://schemas.openxmlformats.org/drawingml/2006/main">
              <a:ext uri="{FF2B5EF4-FFF2-40B4-BE49-F238E27FC236}">
                <a16:creationId xmlns:a16="http://schemas.microsoft.com/office/drawing/2014/main" id="{2F225565-1002-4BBB-92DF-2A1D62AF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guard-stat-0">
            <a:extLst xmlns:a="http://schemas.openxmlformats.org/drawingml/2006/main">
              <a:ext uri="{FF2B5EF4-FFF2-40B4-BE49-F238E27FC236}">
                <a16:creationId xmlns:a16="http://schemas.microsoft.com/office/drawing/2014/main" id="{CE103C8F-165C-4BBF-9266-92ECED1E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" name="guard-label-0">
            <a:extLst xmlns:a="http://schemas.openxmlformats.org/drawingml/2006/main">
              <a:ext uri="{FF2B5EF4-FFF2-40B4-BE49-F238E27FC236}">
                <a16:creationId xmlns:a16="http://schemas.microsoft.com/office/drawing/2014/main" id="{6EE9004F-E30C-4EE1-B0AC-512A3969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项目上传</a:t>
            </a:r>
          </a:p>
        </p:txBody>
      </p:sp>
      <p:sp>
        <p:nvSpPr>
          <p:cNvPr id="6" name="guard-panel-1">
            <a:extLst xmlns:a="http://schemas.openxmlformats.org/drawingml/2006/main">
              <a:ext uri="{FF2B5EF4-FFF2-40B4-BE49-F238E27FC236}">
                <a16:creationId xmlns:a16="http://schemas.microsoft.com/office/drawing/2014/main" id="{D9899E6B-E05E-4F21-8A08-58E635C7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guard-stat-1">
            <a:extLst xmlns:a="http://schemas.openxmlformats.org/drawingml/2006/main">
              <a:ext uri="{FF2B5EF4-FFF2-40B4-BE49-F238E27FC236}">
                <a16:creationId xmlns:a16="http://schemas.microsoft.com/office/drawing/2014/main" id="{BDDED122-32A7-4964-BFDE-30566B0B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" name="guard-label-1">
            <a:extLst xmlns:a="http://schemas.openxmlformats.org/drawingml/2006/main">
              <a:ext uri="{FF2B5EF4-FFF2-40B4-BE49-F238E27FC236}">
                <a16:creationId xmlns:a16="http://schemas.microsoft.com/office/drawing/2014/main" id="{62D72AF6-34FF-4503-948A-4C5422AB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2437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 命令执行</a:t>
            </a:r>
          </a:p>
        </p:txBody>
      </p:sp>
      <p:sp>
        <p:nvSpPr>
          <p:cNvPr id="9" name="guard-panel-2">
            <a:extLst xmlns:a="http://schemas.openxmlformats.org/drawingml/2006/main">
              <a:ext uri="{FF2B5EF4-FFF2-40B4-BE49-F238E27FC236}">
                <a16:creationId xmlns:a16="http://schemas.microsoft.com/office/drawing/2014/main" id="{AE3F85F6-2B92-4542-AD24-BDEF1151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guard-stat-2">
            <a:extLst xmlns:a="http://schemas.openxmlformats.org/drawingml/2006/main">
              <a:ext uri="{FF2B5EF4-FFF2-40B4-BE49-F238E27FC236}">
                <a16:creationId xmlns:a16="http://schemas.microsoft.com/office/drawing/2014/main" id="{EB50D266-AEBE-473E-BB4F-CE783F14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只读</a:t>
            </a:r>
          </a:p>
        </p:txBody>
      </p:sp>
      <p:sp>
        <p:nvSpPr>
          <p:cNvPr id="11" name="guard-label-2">
            <a:extLst xmlns:a="http://schemas.openxmlformats.org/drawingml/2006/main">
              <a:ext uri="{FF2B5EF4-FFF2-40B4-BE49-F238E27FC236}">
                <a16:creationId xmlns:a16="http://schemas.microsoft.com/office/drawing/2014/main" id="{06F42610-2614-484B-974F-E8ACA92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2437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Git 与 Diff</a:t>
            </a:r>
          </a:p>
        </p:txBody>
      </p:sp>
      <p:sp>
        <p:nvSpPr>
          <p:cNvPr id="12" name="footer-7">
            <a:extLst xmlns:a="http://schemas.openxmlformats.org/drawingml/2006/main">
              <a:ext uri="{FF2B5EF4-FFF2-40B4-BE49-F238E27FC236}">
                <a16:creationId xmlns:a16="http://schemas.microsoft.com/office/drawing/2014/main" id="{9E201452-FB34-48EE-A9F4-42E1EC04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86724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965E2433-B365-4FBE-8C71-B0A17B00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BD54456-5523-4D09-9FA1-056C82EF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904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把确定性原型</a:t>
            </a:r>
          </a:p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推进为受控运行时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956BC108-6839-4942-AAF1-8FEBAAA8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先完成真实 Claude / Codex adapter、权限确认与审计日志，再逐步开放执行能力。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3DE044CC-BAE4-43A4-8F3B-A201423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714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0FCC1C8F-3B55-4588-B4E1-34663AFA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41305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2026-07-24T21:03:44.1790000Z</dcterms:created>
  <dcterms:modified xsi:type="dcterms:W3CDTF">2026-07-24T21:03:44.1790000Z</dcterms:modified>
</coreProperties>
</file>